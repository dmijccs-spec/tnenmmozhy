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3" r:id="rId4"/>
    <p:sldId id="270" r:id="rId5"/>
    <p:sldId id="269" r:id="rId6"/>
    <p:sldId id="268" r:id="rId7"/>
    <p:sldId id="267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8A3B6-E629-4603-8538-275742DF7AD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7650F-A6CE-4525-BCFF-CFE292632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9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7650F-A6CE-4525-BCFF-CFE2926320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0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4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8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0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1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6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0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6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75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3239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64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2681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94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7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892BB-BF72-4C76-98D0-DF032CAD84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185F65E-F5F4-4E82-BC4A-6D899672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8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7C9C-9856-F3FB-B611-64AE63FAC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358" y="683490"/>
            <a:ext cx="7766936" cy="1159854"/>
          </a:xfrm>
        </p:spPr>
        <p:txBody>
          <a:bodyPr/>
          <a:lstStyle/>
          <a:p>
            <a:pPr algn="ctr"/>
            <a:r>
              <a:rPr lang="en-US" dirty="0"/>
              <a:t>Transmission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DC67F-DF9C-50C6-041E-405EB76D0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12" y="2153727"/>
            <a:ext cx="7941734" cy="57658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Computer Networks / Data Communication</a:t>
            </a:r>
          </a:p>
        </p:txBody>
      </p:sp>
      <p:pic>
        <p:nvPicPr>
          <p:cNvPr id="3074" name="Picture 2" descr="Transmission Media | Computer Networks ...">
            <a:extLst>
              <a:ext uri="{FF2B5EF4-FFF2-40B4-BE49-F238E27FC236}">
                <a16:creationId xmlns:a16="http://schemas.microsoft.com/office/drawing/2014/main" id="{557355B6-BA31-8268-A9C2-112F9EF1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903" y="2871355"/>
            <a:ext cx="2857500" cy="1600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Transmission Medium png images | PNGEgg">
            <a:extLst>
              <a:ext uri="{FF2B5EF4-FFF2-40B4-BE49-F238E27FC236}">
                <a16:creationId xmlns:a16="http://schemas.microsoft.com/office/drawing/2014/main" id="{F4431B5B-8508-2BE9-1A50-58ADDB25E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467" y="2871355"/>
            <a:ext cx="2533650" cy="18002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A4324CEF-9EAA-AA6B-B605-A154BDB83D23}"/>
              </a:ext>
            </a:extLst>
          </p:cNvPr>
          <p:cNvSpPr/>
          <p:nvPr/>
        </p:nvSpPr>
        <p:spPr>
          <a:xfrm>
            <a:off x="6342185" y="5017477"/>
            <a:ext cx="2857500" cy="973015"/>
          </a:xfrm>
          <a:prstGeom prst="flowChart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6D3A1-B51F-7EE0-2401-FFC42CA3E483}"/>
              </a:ext>
            </a:extLst>
          </p:cNvPr>
          <p:cNvSpPr txBox="1"/>
          <p:nvPr/>
        </p:nvSpPr>
        <p:spPr>
          <a:xfrm>
            <a:off x="6689061" y="4981115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Name:-J.Thenmmozhy</a:t>
            </a:r>
          </a:p>
          <a:p>
            <a:r>
              <a:rPr lang="en-US" dirty="0">
                <a:solidFill>
                  <a:srgbClr val="7030A0"/>
                </a:solidFill>
              </a:rPr>
              <a:t>Reg.no:-DCA1546</a:t>
            </a:r>
          </a:p>
          <a:p>
            <a:r>
              <a:rPr lang="en-US" dirty="0">
                <a:solidFill>
                  <a:srgbClr val="7030A0"/>
                </a:solidFill>
              </a:rPr>
              <a:t>Course:-DITEC</a:t>
            </a:r>
          </a:p>
        </p:txBody>
      </p:sp>
      <p:pic>
        <p:nvPicPr>
          <p:cNvPr id="7" name="Picture 6" descr="Make yourself clear about TRANSMISSION MEDIA: A Beginner's Guide">
            <a:extLst>
              <a:ext uri="{FF2B5EF4-FFF2-40B4-BE49-F238E27FC236}">
                <a16:creationId xmlns:a16="http://schemas.microsoft.com/office/drawing/2014/main" id="{2EFD62FF-0B94-197C-5E89-B65AC8734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452" y="5024022"/>
            <a:ext cx="3083901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98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B65D-799D-55FB-4E08-C85851C1B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491"/>
            <a:ext cx="9580358" cy="772669"/>
          </a:xfrm>
        </p:spPr>
        <p:txBody>
          <a:bodyPr>
            <a:noAutofit/>
          </a:bodyPr>
          <a:lstStyle/>
          <a:p>
            <a:pPr algn="ctr"/>
            <a:r>
              <a:rPr lang="en-US" sz="4600" dirty="0"/>
              <a:t>Introduction to Transmission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8BC7A-04E3-9E91-C1DB-FA593D38D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25611"/>
            <a:ext cx="8596668" cy="5681898"/>
          </a:xfrm>
        </p:spPr>
        <p:txBody>
          <a:bodyPr>
            <a:normAutofit/>
          </a:bodyPr>
          <a:lstStyle/>
          <a:p>
            <a:pPr>
              <a:buClr>
                <a:srgbClr val="00B050"/>
              </a:buClr>
            </a:pPr>
            <a:r>
              <a:rPr lang="en-US" sz="2000" dirty="0"/>
              <a:t>Transmission media is the </a:t>
            </a:r>
            <a:r>
              <a:rPr lang="en-US" sz="2000" b="1" dirty="0"/>
              <a:t>path</a:t>
            </a:r>
            <a:r>
              <a:rPr lang="en-US" sz="2000" dirty="0"/>
              <a:t> used to send data. </a:t>
            </a:r>
          </a:p>
          <a:p>
            <a:pPr>
              <a:buClr>
                <a:srgbClr val="00B050"/>
              </a:buClr>
            </a:pPr>
            <a:r>
              <a:rPr lang="en-US" sz="2000" dirty="0"/>
              <a:t>It connects one device to another. </a:t>
            </a:r>
          </a:p>
          <a:p>
            <a:pPr>
              <a:buClr>
                <a:srgbClr val="00B050"/>
              </a:buClr>
            </a:pPr>
            <a:r>
              <a:rPr lang="en-US" sz="2000" dirty="0"/>
              <a:t>Data travels as: 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2000" b="1" dirty="0"/>
              <a:t>Electrical signals</a:t>
            </a:r>
            <a:r>
              <a:rPr lang="en-US" sz="2000" dirty="0"/>
              <a:t> 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2000" b="1" dirty="0"/>
              <a:t>Light signals</a:t>
            </a:r>
            <a:r>
              <a:rPr lang="en-US" sz="2000" dirty="0"/>
              <a:t> 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2000" b="1" dirty="0"/>
              <a:t>Radio waves</a:t>
            </a:r>
            <a:r>
              <a:rPr lang="en-US" sz="2000" dirty="0"/>
              <a:t> </a:t>
            </a:r>
          </a:p>
          <a:p>
            <a:pPr>
              <a:buClr>
                <a:srgbClr val="00B050"/>
              </a:buClr>
            </a:pPr>
            <a:r>
              <a:rPr lang="en-US" sz="2000" dirty="0"/>
              <a:t>It is important in </a:t>
            </a:r>
            <a:r>
              <a:rPr lang="en-US" sz="2000" b="1" dirty="0"/>
              <a:t>computer communication</a:t>
            </a:r>
            <a:r>
              <a:rPr lang="en-US" sz="2000" dirty="0"/>
              <a:t>. 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Examples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2000" dirty="0"/>
              <a:t>Network cables 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2000" dirty="0"/>
              <a:t>Wi-Fi 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2000" dirty="0"/>
              <a:t>Mobile signals </a:t>
            </a:r>
          </a:p>
          <a:p>
            <a:pPr marL="0" indent="0">
              <a:buClr>
                <a:schemeClr val="accent4"/>
              </a:buClr>
              <a:buNone/>
            </a:pPr>
            <a:r>
              <a:rPr lang="en-US" sz="2000" dirty="0"/>
              <a:t> </a:t>
            </a:r>
            <a:r>
              <a:rPr lang="en-US" sz="2000" b="1" dirty="0"/>
              <a:t>“Transmission media is the channel through which information moves from sender to receiver.”</a:t>
            </a:r>
            <a:endParaRPr lang="en-US" sz="2000" dirty="0"/>
          </a:p>
          <a:p>
            <a:pPr marL="0" indent="0">
              <a:buClr>
                <a:schemeClr val="accent4"/>
              </a:buClr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Clr>
                <a:srgbClr val="FFC000"/>
              </a:buClr>
              <a:buNone/>
            </a:pPr>
            <a:endParaRPr lang="en-US" dirty="0"/>
          </a:p>
        </p:txBody>
      </p:sp>
      <p:pic>
        <p:nvPicPr>
          <p:cNvPr id="4098" name="Picture 2" descr="Transmission Media Quiz">
            <a:extLst>
              <a:ext uri="{FF2B5EF4-FFF2-40B4-BE49-F238E27FC236}">
                <a16:creationId xmlns:a16="http://schemas.microsoft.com/office/drawing/2014/main" id="{ED3143BB-BABF-9F3A-9BD2-731B1BD1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242" y="1380160"/>
            <a:ext cx="2565057" cy="143643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Router And Access Point Ppt Slide ...">
            <a:extLst>
              <a:ext uri="{FF2B5EF4-FFF2-40B4-BE49-F238E27FC236}">
                <a16:creationId xmlns:a16="http://schemas.microsoft.com/office/drawing/2014/main" id="{09316452-389C-0184-9BBF-69D80F530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096" y="3171141"/>
            <a:ext cx="2732492" cy="204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6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2BFA3-C862-827B-38B8-BC789C6A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B133-7D0E-EA87-009D-8B3A0270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66" y="172995"/>
            <a:ext cx="8596668" cy="9144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Types of Transmission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0A4C5-24AA-FBAD-A6BC-AAD068133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87396"/>
            <a:ext cx="8596668" cy="5684108"/>
          </a:xfrm>
        </p:spPr>
        <p:txBody>
          <a:bodyPr>
            <a:normAutofit fontScale="85000" lnSpcReduction="20000"/>
          </a:bodyPr>
          <a:lstStyle/>
          <a:p>
            <a:pPr lvl="0">
              <a:buFont typeface="+mj-lt"/>
              <a:buAutoNum type="arabicPeriod"/>
            </a:pPr>
            <a:r>
              <a:rPr lang="en-US" sz="1900" b="1" dirty="0"/>
              <a:t>Guided Media (Wired)</a:t>
            </a:r>
            <a:endParaRPr lang="en-US" sz="19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dirty="0"/>
              <a:t>Uses </a:t>
            </a:r>
            <a:r>
              <a:rPr lang="en-US" sz="1900" b="1" dirty="0"/>
              <a:t>physical cables</a:t>
            </a:r>
            <a:r>
              <a:rPr lang="en-US" sz="1900" dirty="0"/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dirty="0"/>
              <a:t>Data moves through a fixed path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sz="1900" b="1" dirty="0"/>
              <a:t>Examples:</a:t>
            </a:r>
            <a:endParaRPr lang="en-US" sz="1900" dirty="0"/>
          </a:p>
          <a:p>
            <a:pPr lvl="3"/>
            <a:r>
              <a:rPr lang="en-US" sz="1900" dirty="0"/>
              <a:t>Twisted Pair Cable </a:t>
            </a:r>
          </a:p>
          <a:p>
            <a:pPr lvl="3"/>
            <a:r>
              <a:rPr lang="en-US" sz="1900" dirty="0"/>
              <a:t>Coaxial Cable </a:t>
            </a:r>
          </a:p>
          <a:p>
            <a:pPr lvl="3"/>
            <a:r>
              <a:rPr lang="en-US" sz="1900" dirty="0"/>
              <a:t>Fiber Optic Cable </a:t>
            </a:r>
          </a:p>
          <a:p>
            <a:pPr lvl="0">
              <a:buFont typeface="+mj-lt"/>
              <a:buAutoNum type="arabicPeriod"/>
            </a:pPr>
            <a:r>
              <a:rPr lang="en-US" sz="1900" b="1" dirty="0"/>
              <a:t>Unguided Media (Wireless)</a:t>
            </a:r>
            <a:endParaRPr lang="en-US" sz="19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dirty="0"/>
              <a:t>Uses </a:t>
            </a:r>
            <a:r>
              <a:rPr lang="en-US" sz="1900" b="1" dirty="0"/>
              <a:t>air or space</a:t>
            </a:r>
            <a:r>
              <a:rPr lang="en-US" sz="1900" dirty="0"/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dirty="0"/>
              <a:t>No physical cable needed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sz="1900" b="1" dirty="0"/>
              <a:t>Examples:</a:t>
            </a:r>
            <a:endParaRPr lang="en-US" sz="1900" dirty="0"/>
          </a:p>
          <a:p>
            <a:pPr lvl="3"/>
            <a:r>
              <a:rPr lang="en-US" sz="1900" dirty="0"/>
              <a:t>Radio waves </a:t>
            </a:r>
          </a:p>
          <a:p>
            <a:pPr lvl="3"/>
            <a:r>
              <a:rPr lang="en-US" sz="1900" dirty="0"/>
              <a:t>Microwaves </a:t>
            </a:r>
          </a:p>
          <a:p>
            <a:pPr lvl="3"/>
            <a:r>
              <a:rPr lang="en-US" sz="1900" dirty="0"/>
              <a:t>Infrared </a:t>
            </a:r>
          </a:p>
          <a:p>
            <a:pPr lvl="3"/>
            <a:r>
              <a:rPr lang="en-US" sz="1900" dirty="0"/>
              <a:t>Satellite </a:t>
            </a:r>
          </a:p>
          <a:p>
            <a:pPr marL="0" lvl="0" indent="0">
              <a:buClr>
                <a:schemeClr val="tx1"/>
              </a:buClr>
              <a:buNone/>
            </a:pPr>
            <a:endParaRPr lang="en-US" dirty="0"/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"/>
            </a:pPr>
            <a:r>
              <a:rPr lang="en-US" b="1" dirty="0"/>
              <a:t>“Transmission media is mainly divided into wired and wireless communication.”</a:t>
            </a:r>
            <a:endParaRPr lang="en-US" dirty="0"/>
          </a:p>
          <a:p>
            <a:pPr lvl="3">
              <a:buFont typeface="+mj-lt"/>
              <a:buAutoNum type="arabicPeriod"/>
            </a:pPr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Twisted Pair cables, Coaxial Cables ...">
            <a:extLst>
              <a:ext uri="{FF2B5EF4-FFF2-40B4-BE49-F238E27FC236}">
                <a16:creationId xmlns:a16="http://schemas.microsoft.com/office/drawing/2014/main" id="{11DC3EA4-FE54-589D-128C-E7F132A2D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80" y="1664677"/>
            <a:ext cx="4425905" cy="31567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78119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E8C1-A9E7-4CEC-DF68-FA72DF6D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A145-829B-219A-1A04-0C2BEB51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54" y="69273"/>
            <a:ext cx="9122448" cy="748145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Guided Transmission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3CB6-FCD9-18EC-FEB8-74E729DC0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03" y="961815"/>
            <a:ext cx="10046043" cy="5826912"/>
          </a:xfrm>
        </p:spPr>
        <p:txBody>
          <a:bodyPr>
            <a:normAutofit fontScale="40000" lnSpcReduction="20000"/>
          </a:bodyPr>
          <a:lstStyle/>
          <a:p>
            <a:pPr lvl="0">
              <a:buFont typeface="+mj-lt"/>
              <a:buAutoNum type="arabicPeriod"/>
            </a:pPr>
            <a:r>
              <a:rPr lang="en-US" sz="4000" b="1" dirty="0"/>
              <a:t> Twisted Pair Cable</a:t>
            </a:r>
            <a:endParaRPr lang="en-US" sz="4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000" dirty="0"/>
              <a:t>Two copper wires twisted together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000" dirty="0"/>
              <a:t>Used in </a:t>
            </a:r>
            <a:r>
              <a:rPr lang="en-US" sz="4000" b="1" dirty="0"/>
              <a:t>telephone lines</a:t>
            </a:r>
            <a:r>
              <a:rPr lang="en-US" sz="4000" dirty="0"/>
              <a:t> and </a:t>
            </a:r>
            <a:r>
              <a:rPr lang="en-US" sz="4000" b="1" dirty="0"/>
              <a:t>LANs</a:t>
            </a:r>
            <a:r>
              <a:rPr lang="en-US" sz="4000" dirty="0"/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000" dirty="0"/>
              <a:t>Low cost </a:t>
            </a:r>
          </a:p>
          <a:p>
            <a:pPr lvl="0">
              <a:buFont typeface="+mj-lt"/>
              <a:buAutoNum type="arabicPeriod"/>
            </a:pPr>
            <a:r>
              <a:rPr lang="en-US" sz="4000" b="1" dirty="0"/>
              <a:t> Coaxial Cable</a:t>
            </a:r>
            <a:endParaRPr lang="en-US" sz="4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000" dirty="0"/>
              <a:t>Better shielding than twisted pair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000" dirty="0"/>
              <a:t>Used in: </a:t>
            </a:r>
          </a:p>
          <a:p>
            <a:pPr lvl="2"/>
            <a:r>
              <a:rPr lang="en-US" sz="4000" dirty="0"/>
              <a:t>Cable TV </a:t>
            </a:r>
          </a:p>
          <a:p>
            <a:pPr lvl="2"/>
            <a:r>
              <a:rPr lang="en-US" sz="4000" dirty="0"/>
              <a:t>Internet connection </a:t>
            </a:r>
          </a:p>
          <a:p>
            <a:pPr lvl="0">
              <a:buFont typeface="+mj-lt"/>
              <a:buAutoNum type="arabicPeriod"/>
            </a:pPr>
            <a:r>
              <a:rPr lang="en-US" sz="4000" b="1" dirty="0"/>
              <a:t> Fiber Optic Cable</a:t>
            </a:r>
            <a:endParaRPr lang="en-US" sz="4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000" dirty="0"/>
              <a:t>Uses </a:t>
            </a:r>
            <a:r>
              <a:rPr lang="en-US" sz="4000" b="1" dirty="0"/>
              <a:t>light</a:t>
            </a:r>
            <a:r>
              <a:rPr lang="en-US" sz="4000" dirty="0"/>
              <a:t> for transmission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000" dirty="0"/>
              <a:t>Very </a:t>
            </a:r>
            <a:r>
              <a:rPr lang="en-US" sz="4000" b="1" dirty="0"/>
              <a:t>high speed</a:t>
            </a:r>
            <a:r>
              <a:rPr lang="en-US" sz="4000" dirty="0"/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4000" dirty="0"/>
              <a:t>Used in: </a:t>
            </a:r>
          </a:p>
          <a:p>
            <a:pPr lvl="2"/>
            <a:r>
              <a:rPr lang="en-US" sz="4000" dirty="0"/>
              <a:t>Long-distance communication </a:t>
            </a:r>
          </a:p>
          <a:p>
            <a:pPr lvl="2"/>
            <a:r>
              <a:rPr lang="en-US" sz="4000" dirty="0"/>
              <a:t>Modern internet networks </a:t>
            </a:r>
          </a:p>
          <a:p>
            <a:pPr lvl="2"/>
            <a:r>
              <a:rPr lang="en-US" sz="4000" dirty="0"/>
              <a:t>Reliable </a:t>
            </a:r>
          </a:p>
          <a:p>
            <a:pPr lvl="2"/>
            <a:endParaRPr lang="en-US" sz="4000" dirty="0"/>
          </a:p>
          <a:p>
            <a:pPr marL="457200" lvl="1" indent="0">
              <a:buNone/>
            </a:pPr>
            <a:r>
              <a:rPr lang="en-US" sz="4300" b="1" dirty="0"/>
              <a:t>“Guided media uses cables to transfer data safely and efficiently.”</a:t>
            </a:r>
            <a:endParaRPr lang="en-US" sz="4300" dirty="0"/>
          </a:p>
          <a:p>
            <a:pPr marL="457200" lvl="1" indent="0">
              <a:buNone/>
            </a:pPr>
            <a:endParaRPr lang="en-US" sz="4300" dirty="0"/>
          </a:p>
          <a:p>
            <a:pPr marL="0" lvl="0" indent="0">
              <a:buClrTx/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lvl="0" indent="0">
              <a:buClrTx/>
              <a:buNone/>
            </a:pPr>
            <a:endParaRPr lang="en-US" sz="2000" dirty="0"/>
          </a:p>
          <a:p>
            <a:pPr marL="0" lvl="0" indent="0">
              <a:buClr>
                <a:srgbClr val="EE0000"/>
              </a:buClr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3100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 descr="Detail Description of Guided Media">
            <a:extLst>
              <a:ext uri="{FF2B5EF4-FFF2-40B4-BE49-F238E27FC236}">
                <a16:creationId xmlns:a16="http://schemas.microsoft.com/office/drawing/2014/main" id="{C85A10A1-8D9C-B2FC-5563-B2EF84D52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400" y="1099127"/>
            <a:ext cx="4645602" cy="26376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 descr="GUIDED MEDIA | CATEGORIES OF GUIDED ...">
            <a:extLst>
              <a:ext uri="{FF2B5EF4-FFF2-40B4-BE49-F238E27FC236}">
                <a16:creationId xmlns:a16="http://schemas.microsoft.com/office/drawing/2014/main" id="{BC8ACE37-64EF-6DD5-8B03-C1E301ECE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967" y="4629360"/>
            <a:ext cx="35909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49633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5D69-86AB-723D-E9FD-AE535F35A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193" y="199630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Unguided Transmission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EC709-2055-6950-E70B-58A71FD5A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96" y="2059925"/>
            <a:ext cx="8596668" cy="4303805"/>
          </a:xfrm>
        </p:spPr>
        <p:txBody>
          <a:bodyPr>
            <a:normAutofit lnSpcReduction="10000"/>
          </a:bodyPr>
          <a:lstStyle/>
          <a:p>
            <a:pPr lvl="0">
              <a:buFont typeface="+mj-lt"/>
              <a:buAutoNum type="arabicPeriod"/>
            </a:pPr>
            <a:r>
              <a:rPr lang="en-US" b="1" dirty="0"/>
              <a:t>Radio Waves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b="1" dirty="0"/>
              <a:t>Used in: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b="1" dirty="0"/>
              <a:t>Radio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b="1" dirty="0"/>
              <a:t>Wi-Fi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b="1" dirty="0"/>
              <a:t>Mobile networks </a:t>
            </a:r>
          </a:p>
          <a:p>
            <a:pPr lvl="0">
              <a:buFont typeface="+mj-lt"/>
              <a:buAutoNum type="arabicPeriod"/>
            </a:pPr>
            <a:r>
              <a:rPr lang="en-US" b="1" dirty="0"/>
              <a:t>Microwaves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b="1" dirty="0"/>
              <a:t>Used in: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b="1" dirty="0"/>
              <a:t>Mobile towers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b="1" dirty="0"/>
              <a:t>Long-distance wireless communication 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 </a:t>
            </a:r>
            <a:r>
              <a:rPr lang="en-US" b="1" dirty="0"/>
              <a:t>Infrared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b="1" dirty="0"/>
              <a:t>Used for short distances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b="1" dirty="0"/>
              <a:t>Example: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b="1" dirty="0"/>
              <a:t>TV remote </a:t>
            </a:r>
          </a:p>
          <a:p>
            <a:endParaRPr lang="en-US" dirty="0"/>
          </a:p>
        </p:txBody>
      </p:sp>
      <p:pic>
        <p:nvPicPr>
          <p:cNvPr id="4" name="Picture 3" descr="Transmission Media in Computer Network ...">
            <a:extLst>
              <a:ext uri="{FF2B5EF4-FFF2-40B4-BE49-F238E27FC236}">
                <a16:creationId xmlns:a16="http://schemas.microsoft.com/office/drawing/2014/main" id="{BD353FD0-40D5-2299-5BB3-C08BE3E8C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211" y="1719196"/>
            <a:ext cx="2732383" cy="1138493"/>
          </a:xfrm>
          <a:prstGeom prst="rect">
            <a:avLst/>
          </a:prstGeom>
        </p:spPr>
      </p:pic>
      <p:pic>
        <p:nvPicPr>
          <p:cNvPr id="5" name="Picture 4" descr="Transmission Media in Computer Networks ...">
            <a:extLst>
              <a:ext uri="{FF2B5EF4-FFF2-40B4-BE49-F238E27FC236}">
                <a16:creationId xmlns:a16="http://schemas.microsoft.com/office/drawing/2014/main" id="{A58A2718-E9BA-8290-0A5B-036FE7AD6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781" y="3304344"/>
            <a:ext cx="2572575" cy="1286288"/>
          </a:xfrm>
          <a:prstGeom prst="rect">
            <a:avLst/>
          </a:prstGeom>
        </p:spPr>
      </p:pic>
      <p:pic>
        <p:nvPicPr>
          <p:cNvPr id="6" name="Picture 5" descr="infrared transmission model ...">
            <a:extLst>
              <a:ext uri="{FF2B5EF4-FFF2-40B4-BE49-F238E27FC236}">
                <a16:creationId xmlns:a16="http://schemas.microsoft.com/office/drawing/2014/main" id="{4E74F755-4B6D-4FBA-5C46-80D9A268F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0181" y="5161196"/>
            <a:ext cx="3538202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3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2723-E053-FEFE-503C-27F69492A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827903"/>
            <a:ext cx="9949477" cy="5213460"/>
          </a:xfrm>
        </p:spPr>
        <p:txBody>
          <a:bodyPr/>
          <a:lstStyle/>
          <a:p>
            <a:pPr marL="914400" lvl="2" indent="0">
              <a:buNone/>
            </a:pPr>
            <a:endParaRPr lang="en-US" b="1" dirty="0"/>
          </a:p>
          <a:p>
            <a:pPr>
              <a:buFont typeface="+mj-lt"/>
              <a:buAutoNum type="arabicPeriod" startAt="4"/>
            </a:pPr>
            <a:r>
              <a:rPr lang="en-US" b="1" dirty="0"/>
              <a:t> </a:t>
            </a:r>
            <a:r>
              <a:rPr lang="en-US" sz="2400" b="1" dirty="0"/>
              <a:t>Satellite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b="1" dirty="0"/>
              <a:t>Used for: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sz="1800" b="1" dirty="0"/>
              <a:t>Television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sz="1800" b="1" dirty="0"/>
              <a:t>GPS </a:t>
            </a:r>
          </a:p>
          <a:p>
            <a:pPr lvl="2">
              <a:buFont typeface="Wingdings 3" panose="05040102010807070707" pitchFamily="18" charset="2"/>
              <a:buChar char=""/>
            </a:pPr>
            <a:r>
              <a:rPr lang="en-US" sz="1800" b="1" dirty="0"/>
              <a:t>Internet in remote areas </a:t>
            </a:r>
          </a:p>
          <a:p>
            <a:pPr lvl="2">
              <a:buFont typeface="Wingdings 3" panose="05040102010807070707" pitchFamily="18" charset="2"/>
              <a:buChar char=""/>
            </a:pPr>
            <a:endParaRPr lang="en-US" sz="1800" b="1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b="1" dirty="0"/>
              <a:t>Advantages</a:t>
            </a:r>
          </a:p>
          <a:p>
            <a:pPr lvl="1"/>
            <a:r>
              <a:rPr lang="en-US" sz="1800" b="1" dirty="0"/>
              <a:t>No cables needed </a:t>
            </a:r>
          </a:p>
          <a:p>
            <a:pPr lvl="1"/>
            <a:r>
              <a:rPr lang="en-US" sz="1800" b="1" dirty="0"/>
              <a:t>Easy to install </a:t>
            </a:r>
          </a:p>
          <a:p>
            <a:pPr lvl="1"/>
            <a:endParaRPr lang="en-US" sz="1800" b="1" dirty="0"/>
          </a:p>
          <a:p>
            <a:pPr marL="0" lvl="0" indent="0">
              <a:buNone/>
            </a:pPr>
            <a:r>
              <a:rPr lang="en-US" b="1" dirty="0"/>
              <a:t>      “Unguided media sends signals through air and space without using cables.”</a:t>
            </a:r>
          </a:p>
          <a:p>
            <a:endParaRPr lang="en-US" dirty="0"/>
          </a:p>
        </p:txBody>
      </p:sp>
      <p:pic>
        <p:nvPicPr>
          <p:cNvPr id="4" name="Picture 3" descr="281,104 Communications Satellites ...">
            <a:extLst>
              <a:ext uri="{FF2B5EF4-FFF2-40B4-BE49-F238E27FC236}">
                <a16:creationId xmlns:a16="http://schemas.microsoft.com/office/drawing/2014/main" id="{D0A7D6D0-7BD8-439E-F7CD-574E51EA4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795" y="1199076"/>
            <a:ext cx="3380718" cy="189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07572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DC98-512B-2B70-D618-1DBE63DA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58B1-9241-DEB2-C718-7261965D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Comparison 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CF5341FC-93D1-0B85-C083-4C0AD23AA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251196"/>
              </p:ext>
            </p:extLst>
          </p:nvPr>
        </p:nvGraphicFramePr>
        <p:xfrm>
          <a:off x="853180" y="1917456"/>
          <a:ext cx="9041097" cy="247005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013699">
                  <a:extLst>
                    <a:ext uri="{9D8B030D-6E8A-4147-A177-3AD203B41FA5}">
                      <a16:colId xmlns:a16="http://schemas.microsoft.com/office/drawing/2014/main" val="1005373109"/>
                    </a:ext>
                  </a:extLst>
                </a:gridCol>
                <a:gridCol w="3013699">
                  <a:extLst>
                    <a:ext uri="{9D8B030D-6E8A-4147-A177-3AD203B41FA5}">
                      <a16:colId xmlns:a16="http://schemas.microsoft.com/office/drawing/2014/main" val="1945752337"/>
                    </a:ext>
                  </a:extLst>
                </a:gridCol>
                <a:gridCol w="3013699">
                  <a:extLst>
                    <a:ext uri="{9D8B030D-6E8A-4147-A177-3AD203B41FA5}">
                      <a16:colId xmlns:a16="http://schemas.microsoft.com/office/drawing/2014/main" val="2925018749"/>
                    </a:ext>
                  </a:extLst>
                </a:gridCol>
              </a:tblGrid>
              <a:tr h="36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Guided 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Unguided Media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1310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Physical cable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Air /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758283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Usually 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to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029613"/>
                  </a:ext>
                </a:extLst>
              </a:tr>
              <a:tr h="640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Installation can be costly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Easier in some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859936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More secure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Less secure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328484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048957"/>
                  </a:ext>
                </a:extLst>
              </a:tr>
            </a:tbl>
          </a:graphicData>
        </a:graphic>
      </p:graphicFrame>
      <p:pic>
        <p:nvPicPr>
          <p:cNvPr id="3" name="Picture 2" descr="What is Transmission Media?. What is ...">
            <a:extLst>
              <a:ext uri="{FF2B5EF4-FFF2-40B4-BE49-F238E27FC236}">
                <a16:creationId xmlns:a16="http://schemas.microsoft.com/office/drawing/2014/main" id="{A314EBBA-2310-4509-FC28-2168422E4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53" y="4940544"/>
            <a:ext cx="2828925" cy="1619250"/>
          </a:xfrm>
          <a:prstGeom prst="rect">
            <a:avLst/>
          </a:prstGeom>
        </p:spPr>
      </p:pic>
      <p:pic>
        <p:nvPicPr>
          <p:cNvPr id="4" name="Picture 3" descr="Transmission Media in Computer Network ...">
            <a:extLst>
              <a:ext uri="{FF2B5EF4-FFF2-40B4-BE49-F238E27FC236}">
                <a16:creationId xmlns:a16="http://schemas.microsoft.com/office/drawing/2014/main" id="{59091619-DFAD-9357-1ABA-05465F182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066" y="4940544"/>
            <a:ext cx="27717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03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7A439-9305-B833-AEBE-D09F08B99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70C9-0311-2E3A-533F-2F68C06E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 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94481-E2ED-ED71-D3A1-AF0669745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205" y="1750281"/>
            <a:ext cx="8596668" cy="388077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Transmission media is essential in networking.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 helps devices communicate with each other.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There are </a:t>
            </a:r>
            <a:r>
              <a:rPr lang="en-US" b="1" dirty="0"/>
              <a:t>two main types</a:t>
            </a:r>
            <a:r>
              <a:rPr lang="en-US" dirty="0"/>
              <a:t>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Guided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Unguided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“Both wired and wireless media are important in modern communication.”</a:t>
            </a:r>
          </a:p>
          <a:p>
            <a:endParaRPr lang="en-US" dirty="0"/>
          </a:p>
        </p:txBody>
      </p:sp>
      <p:pic>
        <p:nvPicPr>
          <p:cNvPr id="5" name="Picture 4" descr="Transmission Media in Computer Network">
            <a:extLst>
              <a:ext uri="{FF2B5EF4-FFF2-40B4-BE49-F238E27FC236}">
                <a16:creationId xmlns:a16="http://schemas.microsoft.com/office/drawing/2014/main" id="{BDDF7B29-D5BE-9225-F6E2-729C3FC4A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748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1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5403-A170-9A8B-268B-59D5C34AC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88" y="2297723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        </a:t>
            </a:r>
            <a:r>
              <a:rPr lang="en-US" sz="10700" dirty="0">
                <a:latin typeface="Lucida Console" panose="020B0609040504020204" pitchFamily="49" charset="0"/>
              </a:rPr>
              <a:t>THANKYOU</a:t>
            </a:r>
          </a:p>
        </p:txBody>
      </p:sp>
      <p:pic>
        <p:nvPicPr>
          <p:cNvPr id="4" name="Picture 3" descr="A Big Thank You Images – Browse 22,700 Stock Photos, Vectors ...">
            <a:extLst>
              <a:ext uri="{FF2B5EF4-FFF2-40B4-BE49-F238E27FC236}">
                <a16:creationId xmlns:a16="http://schemas.microsoft.com/office/drawing/2014/main" id="{B7D3A3C2-F538-2B0C-9CEE-C1179826F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47" y="861868"/>
            <a:ext cx="6819168" cy="373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1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292</TotalTime>
  <Words>346</Words>
  <Application>Microsoft Office PowerPoint</Application>
  <PresentationFormat>Widescreen</PresentationFormat>
  <Paragraphs>121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Lucida Console</vt:lpstr>
      <vt:lpstr>Trebuchet MS</vt:lpstr>
      <vt:lpstr>Wingdings</vt:lpstr>
      <vt:lpstr>Wingdings 3</vt:lpstr>
      <vt:lpstr>Facet</vt:lpstr>
      <vt:lpstr>Transmission Media</vt:lpstr>
      <vt:lpstr>Introduction to Transmission Media</vt:lpstr>
      <vt:lpstr>Types of Transmission Media</vt:lpstr>
      <vt:lpstr>Guided Transmission Media</vt:lpstr>
      <vt:lpstr>Unguided Transmission Media</vt:lpstr>
      <vt:lpstr>PowerPoint Presentation</vt:lpstr>
      <vt:lpstr>Comparison </vt:lpstr>
      <vt:lpstr> Conclusion</vt:lpstr>
      <vt:lpstr>         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dmi</cp:lastModifiedBy>
  <cp:revision>13</cp:revision>
  <dcterms:created xsi:type="dcterms:W3CDTF">2026-03-30T08:18:15Z</dcterms:created>
  <dcterms:modified xsi:type="dcterms:W3CDTF">2026-04-08T18:17:10Z</dcterms:modified>
</cp:coreProperties>
</file>